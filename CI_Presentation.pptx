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Heavy" charset="1" panose="00000A00000000000000"/>
      <p:regular r:id="rId22"/>
    </p:embeddedFont>
    <p:embeddedFont>
      <p:font typeface="Open Sauce" charset="1" panose="00000500000000000000"/>
      <p:regular r:id="rId23"/>
    </p:embeddedFont>
    <p:embeddedFont>
      <p:font typeface="Open Sans" charset="1" panose="020B0606030504020204"/>
      <p:regular r:id="rId24"/>
    </p:embeddedFont>
    <p:embeddedFont>
      <p:font typeface="Open Sauc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0737" y="1668747"/>
            <a:ext cx="1432814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6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ROSSMANN STORE SALES FORECASTING USING ML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048009" y="-741890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18699" y="-1086910"/>
            <a:ext cx="2173821" cy="217382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1631347" y="6083524"/>
            <a:ext cx="5874518" cy="5874518"/>
          </a:xfrm>
          <a:custGeom>
            <a:avLst/>
            <a:gdLst/>
            <a:ahLst/>
            <a:cxnLst/>
            <a:rect r="r" b="b" t="t" l="l"/>
            <a:pathLst>
              <a:path h="5874518" w="5874518">
                <a:moveTo>
                  <a:pt x="5874518" y="0"/>
                </a:moveTo>
                <a:lnTo>
                  <a:pt x="0" y="0"/>
                </a:lnTo>
                <a:lnTo>
                  <a:pt x="0" y="5874518"/>
                </a:lnTo>
                <a:lnTo>
                  <a:pt x="5874518" y="5874518"/>
                </a:lnTo>
                <a:lnTo>
                  <a:pt x="58745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123584" y="5143500"/>
            <a:ext cx="2598841" cy="25988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856863" y="-1795549"/>
            <a:ext cx="7315200" cy="3591098"/>
          </a:xfrm>
          <a:custGeom>
            <a:avLst/>
            <a:gdLst/>
            <a:ahLst/>
            <a:cxnLst/>
            <a:rect r="r" b="b" t="t" l="l"/>
            <a:pathLst>
              <a:path h="3591098" w="7315200">
                <a:moveTo>
                  <a:pt x="0" y="0"/>
                </a:moveTo>
                <a:lnTo>
                  <a:pt x="7315200" y="0"/>
                </a:lnTo>
                <a:lnTo>
                  <a:pt x="7315200" y="3591098"/>
                </a:lnTo>
                <a:lnTo>
                  <a:pt x="0" y="3591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63981" y="3789823"/>
            <a:ext cx="9801658" cy="135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sz="4677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Predicting daily sales using XGBoost and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22428" y="6385771"/>
            <a:ext cx="9243145" cy="187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694">
                <a:solidFill>
                  <a:srgbClr val="007D9C"/>
                </a:solidFill>
                <a:latin typeface="Open Sans"/>
                <a:ea typeface="Open Sans"/>
                <a:cs typeface="Open Sans"/>
                <a:sym typeface="Open Sans"/>
              </a:rPr>
              <a:t>Samarth Tikotkar 202301060025</a:t>
            </a:r>
          </a:p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694">
                <a:solidFill>
                  <a:srgbClr val="007D9C"/>
                </a:solidFill>
                <a:latin typeface="Open Sans"/>
                <a:ea typeface="Open Sans"/>
                <a:cs typeface="Open Sans"/>
                <a:sym typeface="Open Sans"/>
              </a:rPr>
              <a:t>Harshal Nagalkar 202301060040</a:t>
            </a:r>
          </a:p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694">
                <a:solidFill>
                  <a:srgbClr val="007D9C"/>
                </a:solidFill>
                <a:latin typeface="Open Sans"/>
                <a:ea typeface="Open Sans"/>
                <a:cs typeface="Open Sans"/>
                <a:sym typeface="Open Sans"/>
              </a:rPr>
              <a:t>Prem Late 202301060031</a:t>
            </a:r>
          </a:p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694">
                <a:solidFill>
                  <a:srgbClr val="007D9C"/>
                </a:solidFill>
                <a:latin typeface="Open Sans"/>
                <a:ea typeface="Open Sans"/>
                <a:cs typeface="Open Sans"/>
                <a:sym typeface="Open Sans"/>
              </a:rPr>
              <a:t>Bhagvat Solanke 202301060037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712355"/>
            <a:ext cx="12444064" cy="134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INTRODUCTION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59105" y="3601888"/>
            <a:ext cx="11569790" cy="454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Rossmann operates 3,000+ drug stores across Europe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usiness problem: High variation in daily sales across stores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Goal: Predict daily sales to improve decision-making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from the Kaggle Rossmann Sales Competition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PROJECT OBJECTIVES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505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Build a machine learning model to predict daily store sales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Comb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 store + sales data into one dataset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Engineer features related to: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Date &amp; seasons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Promotions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Competition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Evaluate models using RMSE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Choo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the best performing model for prediction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134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SDG ALIGNMENT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404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SDG 8: Decent Work &amp; Economic Growth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Better forecasting → better staff allocation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Avoid overworking/understaffing days</a:t>
            </a:r>
          </a:p>
          <a:p>
            <a:pPr algn="l">
              <a:lnSpc>
                <a:spcPts val="4025"/>
              </a:lnSpc>
            </a:pP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SDG 9: Industry, Innovation &amp; Infrastructure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of ML for operational efficiency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Supports smart retail systems &amp; data-driven decisions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DATASET 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505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Files Used: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train.csv — historical daily sales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store.csv — store metadata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test.csv — prediction dataset</a:t>
            </a:r>
          </a:p>
          <a:p>
            <a:pPr algn="l">
              <a:lnSpc>
                <a:spcPts val="4025"/>
              </a:lnSpc>
            </a:pP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Important Features: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Sales, Customers, Promo, StoreType, Assortment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CompetitionDistance, Promo2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Date Features (Year, Month, Week)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DATA CLEANING &amp; PREPROCESSING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505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Removed closed-store rows (Open = 0)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Handled missing values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Scaled numerical features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One-hot encoded categorical variables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Engineered features: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CompetitionOpen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Promo2Open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IsPromo2Month</a:t>
            </a:r>
          </a:p>
          <a:p>
            <a:pPr algn="l" marL="2266952" indent="-566738" lvl="3">
              <a:lnSpc>
                <a:spcPts val="4025"/>
              </a:lnSpc>
              <a:buFont typeface="Arial"/>
              <a:buChar char="￭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Year, Month, Day, WeekOfYear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134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454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Observations: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 distribution is right-skewed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 ↔ Customers: strong positive correlation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Promotions significantly increase sales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StoreType B &amp; Assortment C have highest sales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Seasonality patterns: March-April, June-July, Nov-Dec peaks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Competition distance has mild effect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36598" y="1028700"/>
            <a:ext cx="12106685" cy="6325743"/>
          </a:xfrm>
          <a:custGeom>
            <a:avLst/>
            <a:gdLst/>
            <a:ahLst/>
            <a:cxnLst/>
            <a:rect r="r" b="b" t="t" l="l"/>
            <a:pathLst>
              <a:path h="6325743" w="12106685">
                <a:moveTo>
                  <a:pt x="0" y="0"/>
                </a:moveTo>
                <a:lnTo>
                  <a:pt x="12106685" y="0"/>
                </a:lnTo>
                <a:lnTo>
                  <a:pt x="12106685" y="6325743"/>
                </a:lnTo>
                <a:lnTo>
                  <a:pt x="0" y="6325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2930" y="8036310"/>
            <a:ext cx="1307668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Findings:</a:t>
            </a:r>
          </a:p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daily s</a:t>
            </a: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ales data is right-skewed, meaning that while most days have moderate sales, there are a few days with exceptionally high sales values that stretch the tail of the distribution to the right.</a:t>
            </a:r>
          </a:p>
          <a:p>
            <a:pPr algn="l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828633" y="363279"/>
            <a:ext cx="10317190" cy="7479963"/>
          </a:xfrm>
          <a:custGeom>
            <a:avLst/>
            <a:gdLst/>
            <a:ahLst/>
            <a:cxnLst/>
            <a:rect r="r" b="b" t="t" l="l"/>
            <a:pathLst>
              <a:path h="7479963" w="10317190">
                <a:moveTo>
                  <a:pt x="0" y="0"/>
                </a:moveTo>
                <a:lnTo>
                  <a:pt x="10317189" y="0"/>
                </a:lnTo>
                <a:lnTo>
                  <a:pt x="10317189" y="7479963"/>
                </a:lnTo>
                <a:lnTo>
                  <a:pt x="0" y="7479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2930" y="8036310"/>
            <a:ext cx="1307668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Findings:</a:t>
            </a:r>
          </a:p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 a 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, po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itiv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corr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be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tw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the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nu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of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om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dai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ly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es,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hi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h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</a:p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from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th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ig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ht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upw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rd-s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lo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ping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in 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sca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plo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t.</a:t>
            </a:r>
          </a:p>
          <a:p>
            <a:pPr algn="l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51621" y="489901"/>
            <a:ext cx="14232034" cy="7240547"/>
          </a:xfrm>
          <a:custGeom>
            <a:avLst/>
            <a:gdLst/>
            <a:ahLst/>
            <a:cxnLst/>
            <a:rect r="r" b="b" t="t" l="l"/>
            <a:pathLst>
              <a:path h="7240547" w="14232034">
                <a:moveTo>
                  <a:pt x="0" y="0"/>
                </a:moveTo>
                <a:lnTo>
                  <a:pt x="14232034" y="0"/>
                </a:lnTo>
                <a:lnTo>
                  <a:pt x="14232034" y="7240547"/>
                </a:lnTo>
                <a:lnTo>
                  <a:pt x="0" y="7240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2930" y="8036310"/>
            <a:ext cx="1307668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Findings:</a:t>
            </a:r>
          </a:p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Promotional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activitie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 have a subs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tantial po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itiv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 impac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t,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as the average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sale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da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ys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ith a promot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ion</a:t>
            </a:r>
          </a:p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(P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romo=1)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ar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nea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ly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double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sales on days wi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thou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 on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 (Prom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o=0)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4757" y="298282"/>
            <a:ext cx="11809776" cy="8458752"/>
          </a:xfrm>
          <a:custGeom>
            <a:avLst/>
            <a:gdLst/>
            <a:ahLst/>
            <a:cxnLst/>
            <a:rect r="r" b="b" t="t" l="l"/>
            <a:pathLst>
              <a:path h="8458752" w="11809776">
                <a:moveTo>
                  <a:pt x="0" y="0"/>
                </a:moveTo>
                <a:lnTo>
                  <a:pt x="11809777" y="0"/>
                </a:lnTo>
                <a:lnTo>
                  <a:pt x="11809777" y="8458753"/>
                </a:lnTo>
                <a:lnTo>
                  <a:pt x="0" y="84587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947764" y="4090847"/>
            <a:ext cx="4075522" cy="144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Findings:</a:t>
            </a:r>
          </a:p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ith far competit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ion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nerally sh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ow higher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sales Possible mon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op</a:t>
            </a:r>
            <a:r>
              <a:rPr lang="en-US" sz="2000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oly advantage</a:t>
            </a:r>
          </a:p>
          <a:p>
            <a:pPr algn="l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MODELING APPROACH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3854894"/>
            <a:ext cx="13076681" cy="454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Models Used: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Line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 Regression (Baseline)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 Regressor (Main Model)</a:t>
            </a: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XGB</a:t>
            </a: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oost?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Handles non-linear patterns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 &amp; accurate for tabular data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andles missing values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orks well with engineered features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EVALUATION METRIC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05660" y="4257534"/>
            <a:ext cx="13076681" cy="252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RMSE (Root Mean Squ</a:t>
            </a: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ared Error)</a:t>
            </a: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sed to measure error between predicted and actual sales.</a:t>
            </a: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ower RMSE → Better model performance</a:t>
            </a:r>
          </a:p>
          <a:p>
            <a:pPr algn="l">
              <a:lnSpc>
                <a:spcPts val="40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65994" y="2898099"/>
            <a:ext cx="6543975" cy="4490803"/>
          </a:xfrm>
          <a:custGeom>
            <a:avLst/>
            <a:gdLst/>
            <a:ahLst/>
            <a:cxnLst/>
            <a:rect r="r" b="b" t="t" l="l"/>
            <a:pathLst>
              <a:path h="4490803" w="6543975">
                <a:moveTo>
                  <a:pt x="0" y="0"/>
                </a:moveTo>
                <a:lnTo>
                  <a:pt x="6543975" y="0"/>
                </a:lnTo>
                <a:lnTo>
                  <a:pt x="6543975" y="4490802"/>
                </a:lnTo>
                <a:lnTo>
                  <a:pt x="0" y="4490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21968" y="551177"/>
            <a:ext cx="12444064" cy="134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MODEL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00739" y="3607553"/>
            <a:ext cx="9359684" cy="404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Interpretati</a:t>
            </a: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XGBoost clearly outperforms 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Lin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ear Regression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Captures effects of promotions, holidays, and store differences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Lower error indicates better generalization</a:t>
            </a:r>
          </a:p>
          <a:p>
            <a:pPr algn="l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9802" y="308599"/>
            <a:ext cx="13932098" cy="7680069"/>
          </a:xfrm>
          <a:custGeom>
            <a:avLst/>
            <a:gdLst/>
            <a:ahLst/>
            <a:cxnLst/>
            <a:rect r="r" b="b" t="t" l="l"/>
            <a:pathLst>
              <a:path h="7680069" w="13932098">
                <a:moveTo>
                  <a:pt x="0" y="0"/>
                </a:moveTo>
                <a:lnTo>
                  <a:pt x="13932098" y="0"/>
                </a:lnTo>
                <a:lnTo>
                  <a:pt x="13932098" y="7680069"/>
                </a:lnTo>
                <a:lnTo>
                  <a:pt x="0" y="7680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56009" y="8173442"/>
            <a:ext cx="935968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confirms that pr</a:t>
            </a: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omotional activities are the primary driver of sales variations. The</a:t>
            </a:r>
          </a:p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proximity of competitors, the inherent characteristic of an individual store, and the day</a:t>
            </a:r>
          </a:p>
          <a:p>
            <a:pPr algn="l">
              <a:lnSpc>
                <a:spcPts val="2300"/>
              </a:lnSpc>
            </a:pPr>
            <a:r>
              <a:rPr lang="en-US" sz="20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 the week also play critical roles.</a:t>
            </a:r>
          </a:p>
          <a:p>
            <a:pPr algn="l">
              <a:lnSpc>
                <a:spcPts val="23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1968" y="551177"/>
            <a:ext cx="12444064" cy="262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CONCLUSION &amp; 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65459" y="3682849"/>
            <a:ext cx="12957082" cy="606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Successfully built a sales forecasting m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odel using XGBoost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Helps Rossmann optimize staffing, 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entory, promotions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upports SDG 8 &amp; SDG 9 (efficiency &amp; innovation)</a:t>
            </a:r>
          </a:p>
          <a:p>
            <a:pPr algn="l">
              <a:lnSpc>
                <a:spcPts val="4025"/>
              </a:lnSpc>
            </a:pPr>
            <a:r>
              <a:rPr lang="en-US" sz="3500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Work: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 weather and event data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Deploy model as a web dashboard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Interpret model using SHAP values</a:t>
            </a:r>
          </a:p>
          <a:p>
            <a:pPr algn="l" marL="755651" indent="-377825" lvl="1">
              <a:lnSpc>
                <a:spcPts val="4025"/>
              </a:lnSpc>
              <a:buFont typeface="Arial"/>
              <a:buChar char="•"/>
            </a:pPr>
            <a:r>
              <a:rPr lang="en-US" b="true" sz="350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Deep Learning time-series models (LSTM)</a:t>
            </a:r>
          </a:p>
          <a:p>
            <a:pPr algn="l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DAG5iQR06fk</dc:identifier>
  <dcterms:modified xsi:type="dcterms:W3CDTF">2011-08-01T06:04:30Z</dcterms:modified>
  <cp:revision>1</cp:revision>
  <dc:title>Rossmann Store Sales Forecasting Using Machine Learning</dc:title>
</cp:coreProperties>
</file>